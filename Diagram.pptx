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563B-518C-9699-8656-CF4605EA7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C7F4A-467F-30CF-E59F-5D452298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91AEB-5B16-566C-F994-0EF186C2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6F125-6286-D810-53A4-6D2F71C8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4BC76-A05C-0C9D-8493-28D891C2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62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5EA6-9338-2E73-0580-B9BDD3FD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8DF2-139C-0B72-8520-EC8786EEC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4E324-D34E-C2BE-F505-721FD703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F2A53-063E-161D-34EE-568ACA96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08D5-F087-BB0C-051E-6E85D53B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9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BCBC-4CE4-06B9-B9A9-A6D1F98A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82A8E-726F-2D4D-2D95-2B7670906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1847A-8EEA-164F-6D36-28E9D275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D2367-9071-4D24-3D75-B0895FD1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B6FE3-B0E6-3EFA-666F-A8C60248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98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4E04-5C98-4A11-DBE5-23A025D8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66C0C-5160-603C-C9E7-9A48D060E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12E7D-17D6-0FAF-0E28-5096D46C6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9EB65-F3B0-935A-1D93-A5F95DA0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270D3-80E3-6C47-611C-711468680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B69F0-8313-47DA-2346-E3461519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1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37D6-E0C6-1BC3-3A04-38A0C72E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74D7E-2D8A-9A72-86E4-CF63DA223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0CB52-FB37-16EC-1C0A-211A70439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A9C9FC-5578-7E32-9AE6-C815151F6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BFD9B-5B33-586C-81A7-0F7A7B201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92C4E-E4D1-EB87-3FAC-D2B116B3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CC409-AE22-F61B-A1E2-F72CC2E1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858E9-8E6F-5627-94FA-BB76888F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38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9551-BDA4-1696-61A1-69ECFE11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D277F-B159-CFD3-BF31-A02F396A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0E621-3B73-8AF5-4800-977A5691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95FA5-B735-C995-3566-A884DD30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32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04E98-5435-980A-5504-99B198EEC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2672B-D462-3614-BE9F-9202BF8D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08C47-5828-9BE4-B78B-36893DA0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30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4F9D-8957-6A74-03BF-D14F966E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8E86-0670-A9E5-2461-41B9C9B38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3902A-AD2C-F8E4-B4CC-91207F42D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E46F1-8263-8282-9659-F3969676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FC710-2265-B1ED-2557-1CE2A989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A415D-2770-9F2E-9AA7-8BE79AC8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2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B772-09B8-141A-6D0D-768B3CB3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6A392-EB89-6546-68A8-0F8C13BD5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B8BBD-6474-CB61-CC6C-6A24AE568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B47C9-33FE-ADDE-1131-E408E451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89FC1-4BBF-D774-86A0-34BB19349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CDC5D-0D8B-6579-3F39-58B7F704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63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69E-45F5-2645-8AA6-10920970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41642-C41A-FB93-723D-9390CD27B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6769B-ECD1-87C7-503C-075CF09D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8CAF0-DA06-E093-7DA2-36DB345B5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60E8-9EC3-3491-C5B4-BB347A4B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94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AA3415-1936-EE84-3B3D-01177E869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52B68-B751-3C09-2C0A-AA0135705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611DC-9E44-3E90-6913-51DD0152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7E64D-A710-1249-6B5E-3F2E10E3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DAB7F-3026-DB1D-3DEB-45055FB9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96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5D696-FF8A-E095-17BA-81E2972C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BC354-2912-85A1-6DBB-5686C3F04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18540-4663-BF58-6C42-DB91F2FDD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A161-399C-45DE-8035-235DA15D6B22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179EA-689F-335A-5283-0E68C1C79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75D2F-6974-FC86-8E0B-432BEB242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F89B5-FB99-4FBB-96EA-41DD603B2A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3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004D-F072-632A-7E50-1E5D05CBA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857999"/>
          </a:xfrm>
        </p:spPr>
        <p:txBody>
          <a:bodyPr>
            <a:normAutofit/>
          </a:bodyPr>
          <a:lstStyle/>
          <a:p>
            <a:br>
              <a:rPr lang="en-IN" sz="1200" dirty="0"/>
            </a:br>
            <a:endParaRPr lang="en-IN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B80B36-8FE6-4AA3-1991-88987976AFAE}"/>
              </a:ext>
            </a:extLst>
          </p:cNvPr>
          <p:cNvSpPr/>
          <p:nvPr/>
        </p:nvSpPr>
        <p:spPr>
          <a:xfrm>
            <a:off x="3156156" y="202628"/>
            <a:ext cx="5732206" cy="29472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Secondary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Dataset (Kaggle Synthetic Dataset)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0F35BF-B9BE-264E-B6D2-AC720F7332ED}"/>
              </a:ext>
            </a:extLst>
          </p:cNvPr>
          <p:cNvCxnSpPr>
            <a:cxnSpLocks/>
          </p:cNvCxnSpPr>
          <p:nvPr/>
        </p:nvCxnSpPr>
        <p:spPr>
          <a:xfrm flipH="1">
            <a:off x="5860027" y="487523"/>
            <a:ext cx="4915" cy="27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C8BDBB4-399B-77E3-31E4-FDA7768551D7}"/>
              </a:ext>
            </a:extLst>
          </p:cNvPr>
          <p:cNvSpPr/>
          <p:nvPr/>
        </p:nvSpPr>
        <p:spPr>
          <a:xfrm>
            <a:off x="3156154" y="776742"/>
            <a:ext cx="5722375" cy="2260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 Preprocessing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56B8EA-646F-5769-5170-91D67C1618C8}"/>
              </a:ext>
            </a:extLst>
          </p:cNvPr>
          <p:cNvSpPr/>
          <p:nvPr/>
        </p:nvSpPr>
        <p:spPr>
          <a:xfrm>
            <a:off x="3165987" y="1297852"/>
            <a:ext cx="5712543" cy="2367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Model Training (ARIMA, XGBoost, LSTM)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28C35-5217-EAF8-AFD1-BF00AE21C419}"/>
              </a:ext>
            </a:extLst>
          </p:cNvPr>
          <p:cNvSpPr/>
          <p:nvPr/>
        </p:nvSpPr>
        <p:spPr>
          <a:xfrm>
            <a:off x="3165987" y="1843820"/>
            <a:ext cx="5732206" cy="2260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Model Evaluation (RMSE, MAE, MAPE)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1E140A-F199-2A7C-92D7-5CECF68C9147}"/>
              </a:ext>
            </a:extLst>
          </p:cNvPr>
          <p:cNvSpPr/>
          <p:nvPr/>
        </p:nvSpPr>
        <p:spPr>
          <a:xfrm>
            <a:off x="3165988" y="2330245"/>
            <a:ext cx="5712542" cy="2561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Best Model Selection     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6AF106-6BAB-D4BF-7783-116AF8EB09E1}"/>
              </a:ext>
            </a:extLst>
          </p:cNvPr>
          <p:cNvSpPr/>
          <p:nvPr/>
        </p:nvSpPr>
        <p:spPr>
          <a:xfrm>
            <a:off x="5953434" y="3420453"/>
            <a:ext cx="2925095" cy="5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Visualization</a:t>
            </a:r>
            <a:r>
              <a:rPr lang="en-IN" sz="1400" dirty="0"/>
              <a:t> </a:t>
            </a:r>
            <a:r>
              <a:rPr lang="en-IN" sz="1400" dirty="0">
                <a:solidFill>
                  <a:schemeClr val="tx1"/>
                </a:solidFill>
              </a:rPr>
              <a:t>Formats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(Tableau Dashboard &amp; Raw Table)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EDD193-9A5A-548F-E058-D43F0C74E0EF}"/>
              </a:ext>
            </a:extLst>
          </p:cNvPr>
          <p:cNvSpPr/>
          <p:nvPr/>
        </p:nvSpPr>
        <p:spPr>
          <a:xfrm>
            <a:off x="3166547" y="3420453"/>
            <a:ext cx="2615379" cy="5358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Primary Data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 (Google Form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sz="1400" dirty="0">
                <a:solidFill>
                  <a:schemeClr val="tx1"/>
                </a:solidFill>
              </a:rPr>
              <a:t>Survey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CAF696-E83F-D756-793F-0A50A9EE7310}"/>
              </a:ext>
            </a:extLst>
          </p:cNvPr>
          <p:cNvSpPr/>
          <p:nvPr/>
        </p:nvSpPr>
        <p:spPr>
          <a:xfrm>
            <a:off x="3156156" y="4257357"/>
            <a:ext cx="5732206" cy="329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User Tasks &amp; Decisions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45CA62-FB86-6814-DA6B-3681B493EA54}"/>
              </a:ext>
            </a:extLst>
          </p:cNvPr>
          <p:cNvSpPr/>
          <p:nvPr/>
        </p:nvSpPr>
        <p:spPr>
          <a:xfrm>
            <a:off x="3151240" y="4844669"/>
            <a:ext cx="5732205" cy="2733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 Capture (Decision Time, Accuracy, Confidence)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D6D938-E94A-6683-A781-23D0A3DED727}"/>
              </a:ext>
            </a:extLst>
          </p:cNvPr>
          <p:cNvSpPr/>
          <p:nvPr/>
        </p:nvSpPr>
        <p:spPr>
          <a:xfrm>
            <a:off x="3151241" y="5496177"/>
            <a:ext cx="2802192" cy="530934"/>
          </a:xfrm>
          <a:prstGeom prst="rect">
            <a:avLst/>
          </a:prstGeom>
          <a:solidFill>
            <a:srgbClr val="FEA8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Qualitative Analysis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(Thematic coding)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FF3E66-1166-0381-C18C-9B19A7EE6118}"/>
              </a:ext>
            </a:extLst>
          </p:cNvPr>
          <p:cNvSpPr/>
          <p:nvPr/>
        </p:nvSpPr>
        <p:spPr>
          <a:xfrm>
            <a:off x="6086170" y="5486958"/>
            <a:ext cx="2802192" cy="530934"/>
          </a:xfrm>
          <a:prstGeom prst="rect">
            <a:avLst/>
          </a:prstGeom>
          <a:solidFill>
            <a:srgbClr val="FEA8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Quantitative Analysis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(T-tests, ANOVA)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F67F1A-20A8-6F2F-8634-93FAEDC035CD}"/>
              </a:ext>
            </a:extLst>
          </p:cNvPr>
          <p:cNvSpPr/>
          <p:nvPr/>
        </p:nvSpPr>
        <p:spPr>
          <a:xfrm>
            <a:off x="3165987" y="6331967"/>
            <a:ext cx="5712541" cy="273347"/>
          </a:xfrm>
          <a:prstGeom prst="rect">
            <a:avLst/>
          </a:prstGeom>
          <a:solidFill>
            <a:srgbClr val="FEA8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Insights &amp; Recommendation     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5813D-30D7-5E98-6AFB-1847833AFBDD}"/>
              </a:ext>
            </a:extLst>
          </p:cNvPr>
          <p:cNvSpPr/>
          <p:nvPr/>
        </p:nvSpPr>
        <p:spPr>
          <a:xfrm>
            <a:off x="3175820" y="2865759"/>
            <a:ext cx="5712542" cy="2260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Mini Dataset Creation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A2BE1C8-FBA4-3FFB-2855-CE83FA3EF946}"/>
              </a:ext>
            </a:extLst>
          </p:cNvPr>
          <p:cNvCxnSpPr/>
          <p:nvPr/>
        </p:nvCxnSpPr>
        <p:spPr>
          <a:xfrm>
            <a:off x="5860027" y="992996"/>
            <a:ext cx="0" cy="30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8EF910-B907-A3B2-92FC-9EA1D49E857F}"/>
              </a:ext>
            </a:extLst>
          </p:cNvPr>
          <p:cNvCxnSpPr/>
          <p:nvPr/>
        </p:nvCxnSpPr>
        <p:spPr>
          <a:xfrm>
            <a:off x="5860027" y="1534638"/>
            <a:ext cx="0" cy="309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ADD31B-DBD9-76E8-5D45-AFAD076936B9}"/>
              </a:ext>
            </a:extLst>
          </p:cNvPr>
          <p:cNvCxnSpPr/>
          <p:nvPr/>
        </p:nvCxnSpPr>
        <p:spPr>
          <a:xfrm>
            <a:off x="5860027" y="2074606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6A7673-9862-FA48-C9E4-F66341081989}"/>
              </a:ext>
            </a:extLst>
          </p:cNvPr>
          <p:cNvCxnSpPr/>
          <p:nvPr/>
        </p:nvCxnSpPr>
        <p:spPr>
          <a:xfrm>
            <a:off x="5860027" y="2586368"/>
            <a:ext cx="0" cy="27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A9AF56-73D2-1565-1E41-0CE1040FDF1B}"/>
              </a:ext>
            </a:extLst>
          </p:cNvPr>
          <p:cNvCxnSpPr/>
          <p:nvPr/>
        </p:nvCxnSpPr>
        <p:spPr>
          <a:xfrm>
            <a:off x="6636774" y="3091842"/>
            <a:ext cx="0" cy="328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70EF6D9-DF8C-5A92-ECC6-3117E2B5815E}"/>
              </a:ext>
            </a:extLst>
          </p:cNvPr>
          <p:cNvCxnSpPr/>
          <p:nvPr/>
        </p:nvCxnSpPr>
        <p:spPr>
          <a:xfrm>
            <a:off x="5860027" y="4586910"/>
            <a:ext cx="0" cy="257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208D89-AB97-383A-C531-2655356FBAE0}"/>
              </a:ext>
            </a:extLst>
          </p:cNvPr>
          <p:cNvCxnSpPr/>
          <p:nvPr/>
        </p:nvCxnSpPr>
        <p:spPr>
          <a:xfrm>
            <a:off x="5860027" y="5118016"/>
            <a:ext cx="0" cy="152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D0929D9-7D44-85F4-DF5B-5052B8512C6B}"/>
              </a:ext>
            </a:extLst>
          </p:cNvPr>
          <p:cNvCxnSpPr>
            <a:cxnSpLocks/>
          </p:cNvCxnSpPr>
          <p:nvPr/>
        </p:nvCxnSpPr>
        <p:spPr>
          <a:xfrm flipH="1">
            <a:off x="4513006" y="5279922"/>
            <a:ext cx="2880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00B132A-C44B-B15A-AF1B-4FC91C3A0CAB}"/>
              </a:ext>
            </a:extLst>
          </p:cNvPr>
          <p:cNvCxnSpPr>
            <a:cxnSpLocks/>
          </p:cNvCxnSpPr>
          <p:nvPr/>
        </p:nvCxnSpPr>
        <p:spPr>
          <a:xfrm>
            <a:off x="4513006" y="5270090"/>
            <a:ext cx="0" cy="22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1B0EF59-8954-027A-6A18-0F7A0CC9D803}"/>
              </a:ext>
            </a:extLst>
          </p:cNvPr>
          <p:cNvCxnSpPr>
            <a:cxnSpLocks/>
          </p:cNvCxnSpPr>
          <p:nvPr/>
        </p:nvCxnSpPr>
        <p:spPr>
          <a:xfrm>
            <a:off x="7374194" y="5270090"/>
            <a:ext cx="0" cy="22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E51F049-B2B9-3BBD-A241-FE2EDC8A94C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6798977" y="5496815"/>
            <a:ext cx="167212" cy="120936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D3C2FE84-CBB6-8A04-DF76-6135D7B3A028}"/>
              </a:ext>
            </a:extLst>
          </p:cNvPr>
          <p:cNvCxnSpPr>
            <a:cxnSpLocks/>
            <a:stCxn id="16" idx="2"/>
          </p:cNvCxnSpPr>
          <p:nvPr/>
        </p:nvCxnSpPr>
        <p:spPr>
          <a:xfrm rot="16200000" flipH="1">
            <a:off x="5122576" y="5456872"/>
            <a:ext cx="167213" cy="130769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3C715F3-B899-26BD-F4C1-85DB8D486760}"/>
              </a:ext>
            </a:extLst>
          </p:cNvPr>
          <p:cNvCxnSpPr/>
          <p:nvPr/>
        </p:nvCxnSpPr>
        <p:spPr>
          <a:xfrm>
            <a:off x="5860027" y="6194324"/>
            <a:ext cx="0" cy="137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697BF56-4A13-5CDD-09E1-972AFF41683E}"/>
              </a:ext>
            </a:extLst>
          </p:cNvPr>
          <p:cNvCxnSpPr/>
          <p:nvPr/>
        </p:nvCxnSpPr>
        <p:spPr>
          <a:xfrm>
            <a:off x="6238569" y="6194324"/>
            <a:ext cx="0" cy="137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7DA4A0D-0231-257C-731E-F06F29EEE1DA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74236" y="3956281"/>
            <a:ext cx="1" cy="149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F7FCC02-B085-FD52-42EB-C6D2B4728673}"/>
              </a:ext>
            </a:extLst>
          </p:cNvPr>
          <p:cNvCxnSpPr/>
          <p:nvPr/>
        </p:nvCxnSpPr>
        <p:spPr>
          <a:xfrm>
            <a:off x="4483510" y="4106056"/>
            <a:ext cx="9832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C9DA643-D84F-D9E3-905F-1C65E8858643}"/>
              </a:ext>
            </a:extLst>
          </p:cNvPr>
          <p:cNvCxnSpPr/>
          <p:nvPr/>
        </p:nvCxnSpPr>
        <p:spPr>
          <a:xfrm>
            <a:off x="5486400" y="4106056"/>
            <a:ext cx="0" cy="151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ED6B8E3-07FA-8E35-4D67-C97C1AC643C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7415981" y="3952501"/>
            <a:ext cx="1" cy="149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954C3CD-7550-3D22-CFC7-09A178900441}"/>
              </a:ext>
            </a:extLst>
          </p:cNvPr>
          <p:cNvCxnSpPr/>
          <p:nvPr/>
        </p:nvCxnSpPr>
        <p:spPr>
          <a:xfrm flipH="1">
            <a:off x="6238569" y="4102078"/>
            <a:ext cx="11552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1BE59D7-378A-4F2D-93DC-C4289FFA2B8E}"/>
              </a:ext>
            </a:extLst>
          </p:cNvPr>
          <p:cNvCxnSpPr/>
          <p:nvPr/>
        </p:nvCxnSpPr>
        <p:spPr>
          <a:xfrm>
            <a:off x="6238569" y="4102078"/>
            <a:ext cx="0" cy="155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Database with solid fill">
            <a:extLst>
              <a:ext uri="{FF2B5EF4-FFF2-40B4-BE49-F238E27FC236}">
                <a16:creationId xmlns:a16="http://schemas.microsoft.com/office/drawing/2014/main" id="{8C55FD4F-61BC-3E48-B1DA-033E10222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4866" y="221223"/>
            <a:ext cx="280432" cy="280432"/>
          </a:xfrm>
          <a:prstGeom prst="rect">
            <a:avLst/>
          </a:prstGeom>
        </p:spPr>
      </p:pic>
      <p:pic>
        <p:nvPicPr>
          <p:cNvPr id="124" name="Graphic 123" descr="Database with solid fill">
            <a:extLst>
              <a:ext uri="{FF2B5EF4-FFF2-40B4-BE49-F238E27FC236}">
                <a16:creationId xmlns:a16="http://schemas.microsoft.com/office/drawing/2014/main" id="{5C367CC9-B2BD-78B0-B6E9-63A447187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6488" y="204960"/>
            <a:ext cx="280432" cy="280432"/>
          </a:xfrm>
          <a:prstGeom prst="rect">
            <a:avLst/>
          </a:prstGeom>
        </p:spPr>
      </p:pic>
      <p:pic>
        <p:nvPicPr>
          <p:cNvPr id="129" name="Graphic 128" descr="Single gear with solid fill">
            <a:extLst>
              <a:ext uri="{FF2B5EF4-FFF2-40B4-BE49-F238E27FC236}">
                <a16:creationId xmlns:a16="http://schemas.microsoft.com/office/drawing/2014/main" id="{116AA7E4-E02E-EFBD-74CF-B9457C004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5021" y="751696"/>
            <a:ext cx="314631" cy="314631"/>
          </a:xfrm>
          <a:prstGeom prst="rect">
            <a:avLst/>
          </a:prstGeom>
        </p:spPr>
      </p:pic>
      <p:pic>
        <p:nvPicPr>
          <p:cNvPr id="130" name="Graphic 129" descr="Single gear with solid fill">
            <a:extLst>
              <a:ext uri="{FF2B5EF4-FFF2-40B4-BE49-F238E27FC236}">
                <a16:creationId xmlns:a16="http://schemas.microsoft.com/office/drawing/2014/main" id="{3D345A8F-C895-A13A-1165-7DC0348B6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4194" y="747426"/>
            <a:ext cx="314631" cy="314631"/>
          </a:xfrm>
          <a:prstGeom prst="rect">
            <a:avLst/>
          </a:prstGeom>
        </p:spPr>
      </p:pic>
      <p:pic>
        <p:nvPicPr>
          <p:cNvPr id="134" name="Graphic 133" descr="Trophy with solid fill">
            <a:extLst>
              <a:ext uri="{FF2B5EF4-FFF2-40B4-BE49-F238E27FC236}">
                <a16:creationId xmlns:a16="http://schemas.microsoft.com/office/drawing/2014/main" id="{43F3252D-CEF9-BA56-3A54-8E9A8A96FD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3006" y="2352479"/>
            <a:ext cx="221227" cy="221227"/>
          </a:xfrm>
          <a:prstGeom prst="rect">
            <a:avLst/>
          </a:prstGeom>
        </p:spPr>
      </p:pic>
      <p:pic>
        <p:nvPicPr>
          <p:cNvPr id="135" name="Graphic 134" descr="Trophy with solid fill">
            <a:extLst>
              <a:ext uri="{FF2B5EF4-FFF2-40B4-BE49-F238E27FC236}">
                <a16:creationId xmlns:a16="http://schemas.microsoft.com/office/drawing/2014/main" id="{25D1EE4A-1195-17EC-3294-960F7662B0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7322" y="2347673"/>
            <a:ext cx="221227" cy="221227"/>
          </a:xfrm>
          <a:prstGeom prst="rect">
            <a:avLst/>
          </a:prstGeom>
        </p:spPr>
      </p:pic>
      <p:pic>
        <p:nvPicPr>
          <p:cNvPr id="140" name="Graphic 139" descr="Bar chart with solid fill">
            <a:extLst>
              <a:ext uri="{FF2B5EF4-FFF2-40B4-BE49-F238E27FC236}">
                <a16:creationId xmlns:a16="http://schemas.microsoft.com/office/drawing/2014/main" id="{A8DEF0FF-3D42-081E-3F4D-8CBA30C647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6392" y="3436093"/>
            <a:ext cx="304799" cy="304799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696FC668-A36B-EE9B-89D9-D3F2EADD2F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0680" y="3498014"/>
            <a:ext cx="236240" cy="167655"/>
          </a:xfrm>
          <a:prstGeom prst="rect">
            <a:avLst/>
          </a:prstGeom>
        </p:spPr>
      </p:pic>
      <p:pic>
        <p:nvPicPr>
          <p:cNvPr id="146" name="Graphic 145" descr="Users with solid fill">
            <a:extLst>
              <a:ext uri="{FF2B5EF4-FFF2-40B4-BE49-F238E27FC236}">
                <a16:creationId xmlns:a16="http://schemas.microsoft.com/office/drawing/2014/main" id="{405F36C7-A74C-52D5-C355-7F64D1D78B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4552336" y="4270449"/>
            <a:ext cx="303368" cy="303368"/>
          </a:xfrm>
          <a:prstGeom prst="rect">
            <a:avLst/>
          </a:prstGeom>
        </p:spPr>
      </p:pic>
      <p:pic>
        <p:nvPicPr>
          <p:cNvPr id="147" name="Graphic 146" descr="Users with solid fill">
            <a:extLst>
              <a:ext uri="{FF2B5EF4-FFF2-40B4-BE49-F238E27FC236}">
                <a16:creationId xmlns:a16="http://schemas.microsoft.com/office/drawing/2014/main" id="{8A993296-2011-7563-AEB3-6887524116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7255181" y="4265694"/>
            <a:ext cx="303368" cy="303368"/>
          </a:xfrm>
          <a:prstGeom prst="rect">
            <a:avLst/>
          </a:prstGeom>
        </p:spPr>
      </p:pic>
      <p:pic>
        <p:nvPicPr>
          <p:cNvPr id="149" name="Graphic 148" descr="Clipboard with solid fill">
            <a:extLst>
              <a:ext uri="{FF2B5EF4-FFF2-40B4-BE49-F238E27FC236}">
                <a16:creationId xmlns:a16="http://schemas.microsoft.com/office/drawing/2014/main" id="{85E5ABC3-34CC-F7AB-BF28-B3F31B02C92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53786" y="3589775"/>
            <a:ext cx="289683" cy="289683"/>
          </a:xfrm>
          <a:prstGeom prst="rect">
            <a:avLst/>
          </a:prstGeom>
        </p:spPr>
      </p:pic>
      <p:pic>
        <p:nvPicPr>
          <p:cNvPr id="151" name="Graphic 150" descr="Document with solid fill">
            <a:extLst>
              <a:ext uri="{FF2B5EF4-FFF2-40B4-BE49-F238E27FC236}">
                <a16:creationId xmlns:a16="http://schemas.microsoft.com/office/drawing/2014/main" id="{B093AE0B-297F-8BB9-1B02-2FA796BA0F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60437" y="3598014"/>
            <a:ext cx="289684" cy="289684"/>
          </a:xfrm>
          <a:prstGeom prst="rect">
            <a:avLst/>
          </a:prstGeom>
        </p:spPr>
      </p:pic>
      <p:pic>
        <p:nvPicPr>
          <p:cNvPr id="153" name="Graphic 152" descr="Document with solid fill">
            <a:extLst>
              <a:ext uri="{FF2B5EF4-FFF2-40B4-BE49-F238E27FC236}">
                <a16:creationId xmlns:a16="http://schemas.microsoft.com/office/drawing/2014/main" id="{7A5545CD-F479-B322-BFDA-1413407BE3F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89009" y="5675095"/>
            <a:ext cx="336296" cy="336296"/>
          </a:xfrm>
          <a:prstGeom prst="rect">
            <a:avLst/>
          </a:prstGeom>
        </p:spPr>
      </p:pic>
      <p:pic>
        <p:nvPicPr>
          <p:cNvPr id="157" name="Graphic 156" descr="Mathematics with solid fill">
            <a:extLst>
              <a:ext uri="{FF2B5EF4-FFF2-40B4-BE49-F238E27FC236}">
                <a16:creationId xmlns:a16="http://schemas.microsoft.com/office/drawing/2014/main" id="{C20BD301-FB9A-1264-EFA2-6E10A8F1A8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3032" y="5725683"/>
            <a:ext cx="312546" cy="312546"/>
          </a:xfrm>
          <a:prstGeom prst="rect">
            <a:avLst/>
          </a:prstGeom>
        </p:spPr>
      </p:pic>
      <p:pic>
        <p:nvPicPr>
          <p:cNvPr id="159" name="Graphic 158" descr="Lightbulb with solid fill">
            <a:extLst>
              <a:ext uri="{FF2B5EF4-FFF2-40B4-BE49-F238E27FC236}">
                <a16:creationId xmlns:a16="http://schemas.microsoft.com/office/drawing/2014/main" id="{DF1BCEAE-7371-4BC1-526F-366070B0CD8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198377" y="6331967"/>
            <a:ext cx="273347" cy="273347"/>
          </a:xfrm>
          <a:prstGeom prst="rect">
            <a:avLst/>
          </a:prstGeom>
        </p:spPr>
      </p:pic>
      <p:pic>
        <p:nvPicPr>
          <p:cNvPr id="160" name="Graphic 159" descr="Lightbulb with solid fill">
            <a:extLst>
              <a:ext uri="{FF2B5EF4-FFF2-40B4-BE49-F238E27FC236}">
                <a16:creationId xmlns:a16="http://schemas.microsoft.com/office/drawing/2014/main" id="{A6D74640-FE1C-1405-6EBC-EA21694FA30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24921" y="6331967"/>
            <a:ext cx="273347" cy="27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1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8DF3-DFC8-009D-138E-783045B8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B3ECB-DF66-AF9B-B665-576D73C5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21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82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Bhavika Radadiya</dc:creator>
  <cp:lastModifiedBy>Bhavika Radadiya</cp:lastModifiedBy>
  <cp:revision>9</cp:revision>
  <dcterms:created xsi:type="dcterms:W3CDTF">2025-08-15T11:38:49Z</dcterms:created>
  <dcterms:modified xsi:type="dcterms:W3CDTF">2025-08-17T12:47:36Z</dcterms:modified>
</cp:coreProperties>
</file>